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Mathematics of Cryptography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5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Integer Arithmetic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36" y="1427018"/>
            <a:ext cx="6730931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494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1768475"/>
            <a:ext cx="8212137" cy="160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822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1036638"/>
            <a:ext cx="8135937" cy="306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805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if a is negative?</a:t>
            </a:r>
          </a:p>
          <a:p>
            <a:pPr marL="0" indent="0">
              <a:buNone/>
            </a:pPr>
            <a:r>
              <a:rPr lang="en-US" dirty="0" smtClean="0"/>
              <a:t>a = -160, n = 3          q= -53, r=-1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-160 = -53*3 + (-1)</a:t>
            </a:r>
          </a:p>
          <a:p>
            <a:pPr marL="0" indent="0" algn="ctr">
              <a:buNone/>
            </a:pPr>
            <a:r>
              <a:rPr lang="en-US" dirty="0" smtClean="0"/>
              <a:t>-160 = -54*3 + (-1+3)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3039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dirty="0" smtClean="0"/>
              <a:t>when n successfully divides a, r becomes 0, then</a:t>
            </a:r>
          </a:p>
          <a:p>
            <a:pPr marL="0" indent="0" algn="ctr">
              <a:buNone/>
            </a:pPr>
            <a:r>
              <a:rPr lang="en-US" dirty="0" smtClean="0"/>
              <a:t>a = q*n</a:t>
            </a:r>
          </a:p>
          <a:p>
            <a:pPr marL="0" indent="0" algn="ctr">
              <a:buNone/>
            </a:pPr>
            <a:r>
              <a:rPr lang="en-US" sz="2400" dirty="0" smtClean="0"/>
              <a:t>if we are not concerned about q value, then</a:t>
            </a:r>
          </a:p>
          <a:p>
            <a:pPr marL="0" indent="0" algn="ctr">
              <a:buNone/>
            </a:pPr>
            <a:r>
              <a:rPr lang="en-US" dirty="0" err="1" smtClean="0"/>
              <a:t>n|a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if n can’t divide a, then</a:t>
            </a:r>
          </a:p>
          <a:p>
            <a:pPr marL="0" indent="0" algn="ctr">
              <a:buNone/>
            </a:pPr>
            <a:r>
              <a:rPr lang="en-US" dirty="0" smtClean="0"/>
              <a:t>n x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42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00150"/>
            <a:ext cx="7186613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59037"/>
            <a:ext cx="698182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675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04950"/>
            <a:ext cx="6000356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98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Euclidean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828799"/>
          </a:xfrm>
        </p:spPr>
        <p:txBody>
          <a:bodyPr/>
          <a:lstStyle/>
          <a:p>
            <a:r>
              <a:rPr lang="en-US" dirty="0" smtClean="0"/>
              <a:t>It is based on two facts</a:t>
            </a:r>
          </a:p>
          <a:p>
            <a:pPr lvl="1"/>
            <a:r>
              <a:rPr lang="en-US" dirty="0" err="1" smtClean="0"/>
              <a:t>gcd</a:t>
            </a:r>
            <a:r>
              <a:rPr lang="en-US" dirty="0" smtClean="0"/>
              <a:t>(a,0) = a</a:t>
            </a:r>
          </a:p>
          <a:p>
            <a:pPr lvl="1"/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dirty="0" err="1" smtClean="0"/>
              <a:t>a,b</a:t>
            </a:r>
            <a:r>
              <a:rPr lang="en-US" dirty="0" smtClean="0"/>
              <a:t>) = </a:t>
            </a:r>
            <a:r>
              <a:rPr lang="en-US" dirty="0" err="1" smtClean="0"/>
              <a:t>gcd</a:t>
            </a:r>
            <a:r>
              <a:rPr lang="en-US" dirty="0" smtClean="0"/>
              <a:t>(</a:t>
            </a:r>
            <a:r>
              <a:rPr lang="en-US" dirty="0" err="1" smtClean="0"/>
              <a:t>b,r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05000" y="3562350"/>
            <a:ext cx="487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</a:t>
            </a:r>
            <a:r>
              <a:rPr lang="en-US" dirty="0"/>
              <a:t> </a:t>
            </a:r>
            <a:r>
              <a:rPr lang="en-US" dirty="0" err="1"/>
              <a:t>gcd</a:t>
            </a:r>
            <a:r>
              <a:rPr lang="en-US" b="1" dirty="0"/>
              <a:t>(</a:t>
            </a:r>
            <a:r>
              <a:rPr lang="en-US" dirty="0"/>
              <a:t>a, b</a:t>
            </a:r>
            <a:r>
              <a:rPr lang="en-US" b="1" dirty="0"/>
              <a:t>)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/>
              <a:t>b = 0 </a:t>
            </a:r>
            <a:endParaRPr lang="en-US" dirty="0" smtClean="0"/>
          </a:p>
          <a:p>
            <a:r>
              <a:rPr lang="en-US" b="1" dirty="0" smtClean="0"/>
              <a:t>return</a:t>
            </a:r>
            <a:r>
              <a:rPr lang="en-US" dirty="0" smtClean="0"/>
              <a:t> </a:t>
            </a:r>
            <a:r>
              <a:rPr lang="en-US" dirty="0"/>
              <a:t>a </a:t>
            </a:r>
            <a:endParaRPr lang="en-US" dirty="0" smtClean="0"/>
          </a:p>
          <a:p>
            <a:r>
              <a:rPr lang="en-US" b="1" dirty="0" smtClean="0"/>
              <a:t>else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return</a:t>
            </a:r>
            <a:r>
              <a:rPr lang="en-US" dirty="0" smtClean="0"/>
              <a:t> </a:t>
            </a:r>
            <a:r>
              <a:rPr lang="en-US" dirty="0" err="1"/>
              <a:t>gcd</a:t>
            </a:r>
            <a:r>
              <a:rPr lang="en-US" b="1" dirty="0"/>
              <a:t>(</a:t>
            </a:r>
            <a:r>
              <a:rPr lang="en-US" dirty="0"/>
              <a:t>b, a mod b</a:t>
            </a:r>
            <a:r>
              <a:rPr lang="en-US" b="1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2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Relatively Prime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GCD(</a:t>
            </a:r>
            <a:r>
              <a:rPr lang="en-US" dirty="0" err="1" smtClean="0"/>
              <a:t>a,b</a:t>
            </a:r>
            <a:r>
              <a:rPr lang="en-US" dirty="0" smtClean="0"/>
              <a:t>) = 1, a and b are said to be relatively prime</a:t>
            </a:r>
          </a:p>
          <a:p>
            <a:pPr marL="0" indent="0" algn="ctr">
              <a:buNone/>
            </a:pPr>
            <a:r>
              <a:rPr lang="en-US" dirty="0"/>
              <a:t>{8, 9} {14, 15} {20, 21} {24, 25}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{</a:t>
            </a:r>
            <a:r>
              <a:rPr lang="en-US" dirty="0"/>
              <a:t>26, 27} {27, 28} {33, 34}</a:t>
            </a:r>
          </a:p>
        </p:txBody>
      </p:sp>
    </p:spTree>
    <p:extLst>
      <p:ext uri="{BB962C8B-B14F-4D97-AF65-F5344CB8AC3E}">
        <p14:creationId xmlns:p14="http://schemas.microsoft.com/office/powerpoint/2010/main" val="256599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of Euclidean Algorithm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657350"/>
            <a:ext cx="6172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656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Working Example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49086"/>
            <a:ext cx="4124398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738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1800" y="2190750"/>
            <a:ext cx="3200400" cy="838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Extended Euclidean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two integers </a:t>
            </a:r>
            <a:r>
              <a:rPr lang="en-US" dirty="0" err="1" smtClean="0"/>
              <a:t>a,b</a:t>
            </a:r>
            <a:r>
              <a:rPr lang="en-US" dirty="0" smtClean="0"/>
              <a:t> we need to find x and y such that </a:t>
            </a:r>
          </a:p>
          <a:p>
            <a:pPr marL="0" indent="0" algn="ctr">
              <a:buNone/>
            </a:pPr>
            <a:r>
              <a:rPr lang="en-US" dirty="0" err="1" smtClean="0"/>
              <a:t>as+bt</a:t>
            </a:r>
            <a:r>
              <a:rPr lang="en-US" dirty="0" smtClean="0"/>
              <a:t> = GCD(</a:t>
            </a:r>
            <a:r>
              <a:rPr lang="en-US" dirty="0" err="1" smtClean="0"/>
              <a:t>a,b</a:t>
            </a:r>
            <a:r>
              <a:rPr lang="en-US" dirty="0" smtClean="0"/>
              <a:t>)</a:t>
            </a:r>
          </a:p>
          <a:p>
            <a:endParaRPr lang="en-US" smtClean="0"/>
          </a:p>
          <a:p>
            <a:r>
              <a:rPr lang="en-US" smtClean="0"/>
              <a:t>In </a:t>
            </a:r>
            <a:r>
              <a:rPr lang="en-US" dirty="0" smtClean="0"/>
              <a:t>each step of the solution we use 3 sets of variables </a:t>
            </a:r>
            <a:r>
              <a:rPr lang="en-US" dirty="0" err="1" smtClean="0"/>
              <a:t>s,t</a:t>
            </a:r>
            <a:r>
              <a:rPr lang="en-US" dirty="0" smtClean="0"/>
              <a:t> and 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85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r1 and r2 are initialized to a and b</a:t>
            </a:r>
          </a:p>
          <a:p>
            <a:r>
              <a:rPr lang="en-US" dirty="0" smtClean="0"/>
              <a:t>s1 and s2 are initialized to 1 and 0</a:t>
            </a:r>
          </a:p>
          <a:p>
            <a:r>
              <a:rPr lang="en-US" dirty="0" smtClean="0"/>
              <a:t>t1 and t2 are initialized to 0 and 1</a:t>
            </a:r>
          </a:p>
          <a:p>
            <a:r>
              <a:rPr lang="en-US" dirty="0" smtClean="0"/>
              <a:t>r is the remainder when r1 is divided by r2</a:t>
            </a:r>
          </a:p>
          <a:p>
            <a:r>
              <a:rPr lang="en-US" dirty="0" smtClean="0"/>
              <a:t>the above division results in a quotient ‘q’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7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371600"/>
            <a:ext cx="61722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988" y="4171950"/>
            <a:ext cx="540802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17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81150"/>
            <a:ext cx="7647118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33500" y="599209"/>
            <a:ext cx="6656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s and t such that </a:t>
            </a:r>
            <a:r>
              <a:rPr lang="en-US" sz="2800" dirty="0" err="1" smtClean="0"/>
              <a:t>as+bt</a:t>
            </a:r>
            <a:r>
              <a:rPr lang="en-US" sz="2800" dirty="0" smtClean="0"/>
              <a:t> = GCD(161,28)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722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different way of looking at it... 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57350"/>
            <a:ext cx="7391400" cy="256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35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709613"/>
            <a:ext cx="741997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04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259B77012B2848AE0F4DF2B5D4F296" ma:contentTypeVersion="0" ma:contentTypeDescription="Create a new document." ma:contentTypeScope="" ma:versionID="5366b2089dab6d8c96303c54794c7b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261D07-E67E-4251-95B1-E437589A4378}"/>
</file>

<file path=customXml/itemProps2.xml><?xml version="1.0" encoding="utf-8"?>
<ds:datastoreItem xmlns:ds="http://schemas.openxmlformats.org/officeDocument/2006/customXml" ds:itemID="{0B1B756B-B651-41BD-B2F9-1C213934721D}"/>
</file>

<file path=customXml/itemProps3.xml><?xml version="1.0" encoding="utf-8"?>
<ds:datastoreItem xmlns:ds="http://schemas.openxmlformats.org/officeDocument/2006/customXml" ds:itemID="{F12B71FB-C8E3-4D19-A625-32B3916F2C14}"/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282</Words>
  <Application>Microsoft Office PowerPoint</Application>
  <PresentationFormat>On-screen Show (16:9)</PresentationFormat>
  <Paragraphs>42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Mathematics of Cryptography</vt:lpstr>
      <vt:lpstr>Integer Arithmetic</vt:lpstr>
      <vt:lpstr>PowerPoint Presentation</vt:lpstr>
      <vt:lpstr>PowerPoint Presentation</vt:lpstr>
      <vt:lpstr>PowerPoint Presentation</vt:lpstr>
      <vt:lpstr>Divisibility</vt:lpstr>
      <vt:lpstr>PowerPoint Presentation</vt:lpstr>
      <vt:lpstr>PowerPoint Presentation</vt:lpstr>
      <vt:lpstr>Euclidean Algorithm</vt:lpstr>
      <vt:lpstr>Relatively Prime Numbers</vt:lpstr>
      <vt:lpstr>Working of Euclidean Algorithm</vt:lpstr>
      <vt:lpstr>A Working Example</vt:lpstr>
      <vt:lpstr>The Extended Euclidean Algorithm</vt:lpstr>
      <vt:lpstr>How it works?</vt:lpstr>
      <vt:lpstr>PowerPoint Presentation</vt:lpstr>
      <vt:lpstr>PowerPoint Presentation</vt:lpstr>
      <vt:lpstr>A different way of looking at it... 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 of Cryptography</dc:title>
  <dc:creator/>
  <cp:lastModifiedBy>Siva</cp:lastModifiedBy>
  <cp:revision>16</cp:revision>
  <dcterms:created xsi:type="dcterms:W3CDTF">2006-08-16T00:00:00Z</dcterms:created>
  <dcterms:modified xsi:type="dcterms:W3CDTF">2020-08-27T08:23:26Z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0x010100AB259B77012B2848AE0F4DF2B5D4F296</vt:lpwstr>
  </property>
</Properties>
</file>