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6" r:id="rId2"/>
    <p:sldId id="267" r:id="rId3"/>
    <p:sldId id="268" r:id="rId4"/>
    <p:sldId id="259" r:id="rId5"/>
    <p:sldId id="258" r:id="rId6"/>
    <p:sldId id="270" r:id="rId7"/>
    <p:sldId id="271" r:id="rId8"/>
    <p:sldId id="260" r:id="rId9"/>
    <p:sldId id="269" r:id="rId10"/>
    <p:sldId id="261" r:id="rId11"/>
    <p:sldId id="272" r:id="rId12"/>
    <p:sldId id="262" r:id="rId13"/>
    <p:sldId id="273" r:id="rId14"/>
    <p:sldId id="275" r:id="rId15"/>
    <p:sldId id="274" r:id="rId16"/>
  </p:sldIdLst>
  <p:sldSz cx="9144000" cy="5143500" type="screen16x9"/>
  <p:notesSz cx="7559675" cy="10691813"/>
  <p:defaultTextStyle>
    <a:defPPr>
      <a:defRPr lang="en-US"/>
    </a:defPPr>
    <a:lvl1pPr marL="0" algn="l" defTabSz="7405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370286" algn="l" defTabSz="7405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740573" algn="l" defTabSz="7405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110345" algn="l" defTabSz="7405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1480631" algn="l" defTabSz="7405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1850917" algn="l" defTabSz="7405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2221203" algn="l" defTabSz="7405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2590975" algn="l" defTabSz="7405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2961262" algn="l" defTabSz="7405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756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08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6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45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2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406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90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7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5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7ED63-82D7-4F0F-9981-92F908C00377}" type="datetimeFigureOut">
              <a:rPr lang="en-US" smtClean="0"/>
              <a:t>26-Sep-20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F2BD-E673-46C0-9CB6-01D1DCD6E1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A7E34A3-3385-4CD7-8FAC-954E7522871D}" type="slidenum"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6"/>
            <a:ext cx="7772400" cy="112514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083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1617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2451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6328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4068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4490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85737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26520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A7E34A3-3385-4CD7-8FAC-954E7522871D}" type="slidenum"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A7E34A3-3385-4CD7-8FAC-954E7522871D}" type="slidenum"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8343" indent="0">
              <a:buNone/>
              <a:defRPr sz="1800" b="1"/>
            </a:lvl2pPr>
            <a:lvl3pPr marL="816173" indent="0">
              <a:buNone/>
              <a:defRPr sz="1600" b="1"/>
            </a:lvl3pPr>
            <a:lvl4pPr marL="1224516" indent="0">
              <a:buNone/>
              <a:defRPr sz="1500" b="1"/>
            </a:lvl4pPr>
            <a:lvl5pPr marL="1632860" indent="0">
              <a:buNone/>
              <a:defRPr sz="1500" b="1"/>
            </a:lvl5pPr>
            <a:lvl6pPr marL="2040689" indent="0">
              <a:buNone/>
              <a:defRPr sz="1500" b="1"/>
            </a:lvl6pPr>
            <a:lvl7pPr marL="2449032" indent="0">
              <a:buNone/>
              <a:defRPr sz="1500" b="1"/>
            </a:lvl7pPr>
            <a:lvl8pPr marL="2857376" indent="0">
              <a:buNone/>
              <a:defRPr sz="1500" b="1"/>
            </a:lvl8pPr>
            <a:lvl9pPr marL="3265205" indent="0">
              <a:buNone/>
              <a:defRPr sz="1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8343" indent="0">
              <a:buNone/>
              <a:defRPr sz="1800" b="1"/>
            </a:lvl2pPr>
            <a:lvl3pPr marL="816173" indent="0">
              <a:buNone/>
              <a:defRPr sz="1600" b="1"/>
            </a:lvl3pPr>
            <a:lvl4pPr marL="1224516" indent="0">
              <a:buNone/>
              <a:defRPr sz="1500" b="1"/>
            </a:lvl4pPr>
            <a:lvl5pPr marL="1632860" indent="0">
              <a:buNone/>
              <a:defRPr sz="1500" b="1"/>
            </a:lvl5pPr>
            <a:lvl6pPr marL="2040689" indent="0">
              <a:buNone/>
              <a:defRPr sz="1500" b="1"/>
            </a:lvl6pPr>
            <a:lvl7pPr marL="2449032" indent="0">
              <a:buNone/>
              <a:defRPr sz="1500" b="1"/>
            </a:lvl7pPr>
            <a:lvl8pPr marL="2857376" indent="0">
              <a:buNone/>
              <a:defRPr sz="1500" b="1"/>
            </a:lvl8pPr>
            <a:lvl9pPr marL="3265205" indent="0">
              <a:buNone/>
              <a:defRPr sz="1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7"/>
            <a:ext cx="4041775" cy="29634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A7E34A3-3385-4CD7-8FAC-954E7522871D}" type="slidenum"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26-Sep-20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A7E34A3-3385-4CD7-8FAC-954E7522871D}" type="slidenum"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8"/>
            <a:ext cx="3008313" cy="8715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04788"/>
            <a:ext cx="5111750" cy="4389835"/>
          </a:xfrm>
        </p:spPr>
        <p:txBody>
          <a:bodyPr/>
          <a:lstStyle>
            <a:lvl1pPr>
              <a:defRPr sz="28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200"/>
            </a:lvl1pPr>
            <a:lvl2pPr marL="408343" indent="0">
              <a:buNone/>
              <a:defRPr sz="1100"/>
            </a:lvl2pPr>
            <a:lvl3pPr marL="816173" indent="0">
              <a:buNone/>
              <a:defRPr sz="900"/>
            </a:lvl3pPr>
            <a:lvl4pPr marL="1224516" indent="0">
              <a:buNone/>
              <a:defRPr sz="800"/>
            </a:lvl4pPr>
            <a:lvl5pPr marL="1632860" indent="0">
              <a:buNone/>
              <a:defRPr sz="800"/>
            </a:lvl5pPr>
            <a:lvl6pPr marL="2040689" indent="0">
              <a:buNone/>
              <a:defRPr sz="800"/>
            </a:lvl6pPr>
            <a:lvl7pPr marL="2449032" indent="0">
              <a:buNone/>
              <a:defRPr sz="800"/>
            </a:lvl7pPr>
            <a:lvl8pPr marL="2857376" indent="0">
              <a:buNone/>
              <a:defRPr sz="800"/>
            </a:lvl8pPr>
            <a:lvl9pPr marL="3265205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A7E34A3-3385-4CD7-8FAC-954E7522871D}" type="slidenum"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2"/>
            <a:ext cx="5486400" cy="3086100"/>
          </a:xfrm>
        </p:spPr>
        <p:txBody>
          <a:bodyPr/>
          <a:lstStyle>
            <a:lvl1pPr marL="0" indent="0">
              <a:buNone/>
              <a:defRPr sz="2800"/>
            </a:lvl1pPr>
            <a:lvl2pPr marL="408343" indent="0">
              <a:buNone/>
              <a:defRPr sz="2500"/>
            </a:lvl2pPr>
            <a:lvl3pPr marL="816173" indent="0">
              <a:buNone/>
              <a:defRPr sz="2100"/>
            </a:lvl3pPr>
            <a:lvl4pPr marL="1224516" indent="0">
              <a:buNone/>
              <a:defRPr sz="1800"/>
            </a:lvl4pPr>
            <a:lvl5pPr marL="1632860" indent="0">
              <a:buNone/>
              <a:defRPr sz="1800"/>
            </a:lvl5pPr>
            <a:lvl6pPr marL="2040689" indent="0">
              <a:buNone/>
              <a:defRPr sz="1800"/>
            </a:lvl6pPr>
            <a:lvl7pPr marL="2449032" indent="0">
              <a:buNone/>
              <a:defRPr sz="1800"/>
            </a:lvl7pPr>
            <a:lvl8pPr marL="2857376" indent="0">
              <a:buNone/>
              <a:defRPr sz="1800"/>
            </a:lvl8pPr>
            <a:lvl9pPr marL="3265205" indent="0">
              <a:buNone/>
              <a:defRPr sz="1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200"/>
            </a:lvl1pPr>
            <a:lvl2pPr marL="408343" indent="0">
              <a:buNone/>
              <a:defRPr sz="1100"/>
            </a:lvl2pPr>
            <a:lvl3pPr marL="816173" indent="0">
              <a:buNone/>
              <a:defRPr sz="900"/>
            </a:lvl3pPr>
            <a:lvl4pPr marL="1224516" indent="0">
              <a:buNone/>
              <a:defRPr sz="800"/>
            </a:lvl4pPr>
            <a:lvl5pPr marL="1632860" indent="0">
              <a:buNone/>
              <a:defRPr sz="800"/>
            </a:lvl5pPr>
            <a:lvl6pPr marL="2040689" indent="0">
              <a:buNone/>
              <a:defRPr sz="800"/>
            </a:lvl6pPr>
            <a:lvl7pPr marL="2449032" indent="0">
              <a:buNone/>
              <a:defRPr sz="800"/>
            </a:lvl7pPr>
            <a:lvl8pPr marL="2857376" indent="0">
              <a:buNone/>
              <a:defRPr sz="800"/>
            </a:lvl8pPr>
            <a:lvl9pPr marL="3265205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A7E34A3-3385-4CD7-8FAC-954E7522871D}" type="slidenum"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A7E34A3-3385-4CD7-8FAC-954E7522871D}" type="slidenum"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A7E34A3-3385-4CD7-8FAC-954E7522871D}" type="slidenum"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81633" tIns="40817" rIns="81633" bIns="40817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81633" tIns="40817" rIns="81633" bIns="40817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81633" tIns="40817" rIns="81633" bIns="40817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81633" tIns="40817" rIns="81633" bIns="40817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r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81633" tIns="40817" rIns="81633" bIns="40817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C4AC8148-F787-4C5A-A3B4-F16D1379C2C9}" type="slidenum">
              <a:rPr lang="en-IN" sz="11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IN" sz="11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ctr" defTabSz="816173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6000" indent="-306000" algn="l" defTabSz="816173" rtl="0" eaLnBrk="1" latinLnBrk="0" hangingPunct="1">
        <a:spcBef>
          <a:spcPct val="20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63430" indent="-255086" algn="l" defTabSz="816173" rtl="0" eaLnBrk="1" latinLnBrk="0" hangingPunct="1">
        <a:spcBef>
          <a:spcPct val="20000"/>
        </a:spcBef>
        <a:buFont typeface="Arial" panose="0208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0344" indent="-204172" algn="l" defTabSz="816173" rtl="0" eaLnBrk="1" latinLnBrk="0" hangingPunct="1">
        <a:spcBef>
          <a:spcPct val="20000"/>
        </a:spcBef>
        <a:buFont typeface="Arial" panose="0208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28688" indent="-204172" algn="l" defTabSz="816173" rtl="0" eaLnBrk="1" latinLnBrk="0" hangingPunct="1">
        <a:spcBef>
          <a:spcPct val="20000"/>
        </a:spcBef>
        <a:buFont typeface="Arial" panose="0208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36517" indent="-204172" algn="l" defTabSz="816173" rtl="0" eaLnBrk="1" latinLnBrk="0" hangingPunct="1">
        <a:spcBef>
          <a:spcPct val="20000"/>
        </a:spcBef>
        <a:buFont typeface="Arial" panose="0208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44861" indent="-204172" algn="l" defTabSz="816173" rtl="0" eaLnBrk="1" latinLnBrk="0" hangingPunct="1">
        <a:spcBef>
          <a:spcPct val="200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53204" indent="-204172" algn="l" defTabSz="816173" rtl="0" eaLnBrk="1" latinLnBrk="0" hangingPunct="1">
        <a:spcBef>
          <a:spcPct val="200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61033" indent="-204172" algn="l" defTabSz="816173" rtl="0" eaLnBrk="1" latinLnBrk="0" hangingPunct="1">
        <a:spcBef>
          <a:spcPct val="200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377" indent="-204172" algn="l" defTabSz="816173" rtl="0" eaLnBrk="1" latinLnBrk="0" hangingPunct="1">
        <a:spcBef>
          <a:spcPct val="200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17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8343" algn="l" defTabSz="81617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6173" algn="l" defTabSz="81617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516" algn="l" defTabSz="81617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2860" algn="l" defTabSz="81617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0689" algn="l" defTabSz="81617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9032" algn="l" defTabSz="81617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376" algn="l" defTabSz="81617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65205" algn="l" defTabSz="81617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Block Cipher Modes of Operation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What is the need?</a:t>
            </a:r>
          </a:p>
          <a:p>
            <a:r>
              <a:rPr lang="en-US" dirty="0" smtClean="0"/>
              <a:t>How do they work?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745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the problem?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Block Ciphers take </a:t>
            </a:r>
            <a:r>
              <a:rPr lang="en-US" i="1" dirty="0" smtClean="0"/>
              <a:t>b </a:t>
            </a:r>
            <a:r>
              <a:rPr lang="en-US" dirty="0" smtClean="0"/>
              <a:t>bits of plaintext to make one block.</a:t>
            </a:r>
          </a:p>
          <a:p>
            <a:r>
              <a:rPr lang="en-US" dirty="0" smtClean="0"/>
              <a:t>If the plaintext has a length more than </a:t>
            </a:r>
            <a:r>
              <a:rPr lang="en-US" i="1" dirty="0" smtClean="0"/>
              <a:t>b </a:t>
            </a:r>
            <a:r>
              <a:rPr lang="en-US" dirty="0" smtClean="0"/>
              <a:t>bits, then we will create more blocks</a:t>
            </a:r>
          </a:p>
          <a:p>
            <a:r>
              <a:rPr lang="en-US" dirty="0" smtClean="0"/>
              <a:t>Applying same key on all the blocks has a potential security risk</a:t>
            </a:r>
          </a:p>
          <a:p>
            <a:r>
              <a:rPr lang="en-US" dirty="0" smtClean="0"/>
              <a:t>Block Cipher Modes will enhance the applicability of encryption algorithms in a wide range of applications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966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590550"/>
            <a:ext cx="7872846" cy="685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plaintext (256 bit)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26918" y="1504950"/>
            <a:ext cx="196388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block size 64 bit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590800" y="1504950"/>
            <a:ext cx="196388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block size 64 bit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54682" y="1504950"/>
            <a:ext cx="196388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block size 64 bit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518564" y="1504950"/>
            <a:ext cx="196388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block size 64 bit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956588" y="3248858"/>
            <a:ext cx="13070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Key K</a:t>
            </a:r>
            <a:endParaRPr lang="en-US" sz="4000" dirty="0"/>
          </a:p>
        </p:txBody>
      </p:sp>
      <p:sp>
        <p:nvSpPr>
          <p:cNvPr id="13" name="Right Brace 12"/>
          <p:cNvSpPr/>
          <p:nvPr/>
        </p:nvSpPr>
        <p:spPr>
          <a:xfrm rot="5400000">
            <a:off x="4191000" y="-782944"/>
            <a:ext cx="838200" cy="6781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09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Cipher Modes of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9715" indent="-262286"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900" spc="-1" dirty="0">
                <a:uFill>
                  <a:solidFill>
                    <a:srgbClr val="FFFFFF"/>
                  </a:solidFill>
                </a:uFill>
                <a:latin typeface="Arial"/>
              </a:rPr>
              <a:t>Electronic Code Book (ECB)</a:t>
            </a:r>
          </a:p>
          <a:p>
            <a:pPr marL="349715" indent="-262286"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900" spc="-1" dirty="0">
                <a:uFill>
                  <a:solidFill>
                    <a:srgbClr val="FFFFFF"/>
                  </a:solidFill>
                </a:uFill>
                <a:latin typeface="Arial"/>
              </a:rPr>
              <a:t>Cipher Block Chaining (CBC)</a:t>
            </a:r>
          </a:p>
          <a:p>
            <a:pPr marL="349715" indent="-262286"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900" spc="-1" dirty="0">
                <a:uFill>
                  <a:solidFill>
                    <a:srgbClr val="FFFFFF"/>
                  </a:solidFill>
                </a:uFill>
                <a:latin typeface="Arial"/>
              </a:rPr>
              <a:t>Cipher Feedback Mode (CFM)</a:t>
            </a:r>
          </a:p>
          <a:p>
            <a:pPr marL="349715" indent="-262286"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900" spc="-1" dirty="0">
                <a:uFill>
                  <a:solidFill>
                    <a:srgbClr val="FFFFFF"/>
                  </a:solidFill>
                </a:uFill>
                <a:latin typeface="Arial"/>
              </a:rPr>
              <a:t>Output Feedback Mode (OFM</a:t>
            </a:r>
            <a:r>
              <a:rPr lang="en-IN" sz="1900" spc="-1" dirty="0" smtClean="0"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  <a:p>
            <a:pPr marL="349715" indent="-262286"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900" spc="-1" dirty="0" smtClean="0">
                <a:uFill>
                  <a:solidFill>
                    <a:srgbClr val="FFFFFF"/>
                  </a:solidFill>
                </a:uFill>
                <a:latin typeface="Arial"/>
              </a:rPr>
              <a:t>Counter Mode (CTM)</a:t>
            </a:r>
            <a:endParaRPr lang="en-IN" sz="1900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Electronic Code Book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1205345"/>
            <a:ext cx="8305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/>
              <a:t>Each possible block of plaintext will have a unique ciphertext block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/>
              <a:t>Divide the plaintext into blocks and pad the last block if necessary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/>
              <a:t>The code book contains the pairs of all possible plaintext blocks and their corresponding ciphertext blocks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/>
              <a:t>It is the most simplest method and can be applied where single values need to be securely transmitted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/>
              <a:t>Not suitable for lengthy messages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Image result for electronic code boo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57300"/>
            <a:ext cx="8949174" cy="280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161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Parameters to consider for further studies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Overhead</a:t>
            </a:r>
          </a:p>
          <a:p>
            <a:r>
              <a:rPr lang="en-US" dirty="0" smtClean="0"/>
              <a:t>Error Recovery</a:t>
            </a:r>
          </a:p>
          <a:p>
            <a:r>
              <a:rPr lang="en-US" dirty="0" smtClean="0"/>
              <a:t>Error Propagation</a:t>
            </a:r>
          </a:p>
          <a:p>
            <a:r>
              <a:rPr lang="en-US" dirty="0" smtClean="0"/>
              <a:t>Diffusion</a:t>
            </a:r>
          </a:p>
          <a:p>
            <a:r>
              <a:rPr lang="en-US" dirty="0" smtClean="0"/>
              <a:t>Security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655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Cipher Block Chaining</a:t>
            </a:r>
            <a:endParaRPr lang="en-US" dirty="0"/>
          </a:p>
        </p:txBody>
      </p:sp>
      <p:pic>
        <p:nvPicPr>
          <p:cNvPr id="2050" name="Picture 2" descr="Image result for cipher block chain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04950"/>
            <a:ext cx="8178098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Same key is used for all the blocks</a:t>
            </a:r>
          </a:p>
          <a:p>
            <a:r>
              <a:rPr lang="en-US" dirty="0" smtClean="0"/>
              <a:t>current plaintext block is </a:t>
            </a:r>
            <a:r>
              <a:rPr lang="en-US" dirty="0" err="1" smtClean="0"/>
              <a:t>XORed</a:t>
            </a:r>
            <a:r>
              <a:rPr lang="en-US" dirty="0" smtClean="0"/>
              <a:t> with preceding ciphertext block</a:t>
            </a:r>
          </a:p>
          <a:p>
            <a:r>
              <a:rPr lang="en-US" dirty="0" smtClean="0"/>
              <a:t>This is chaining the plaintext blocks one with another</a:t>
            </a:r>
          </a:p>
          <a:p>
            <a:r>
              <a:rPr lang="en-US" dirty="0" smtClean="0"/>
              <a:t>This makes cryptanalysis difficult</a:t>
            </a:r>
          </a:p>
          <a:p>
            <a:r>
              <a:rPr lang="en-US" dirty="0" smtClean="0"/>
              <a:t>Last block may need padding</a:t>
            </a:r>
          </a:p>
          <a:p>
            <a:r>
              <a:rPr lang="en-US" dirty="0"/>
              <a:t>IV can be generated in two ways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67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Cipher Feedback Mode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>
            <a:normAutofit/>
          </a:bodyPr>
          <a:lstStyle/>
          <a:p>
            <a:r>
              <a:rPr lang="en-US" dirty="0" smtClean="0"/>
              <a:t>We can covert a block cipher into stream cipher</a:t>
            </a:r>
          </a:p>
          <a:p>
            <a:r>
              <a:rPr lang="en-US" dirty="0" smtClean="0"/>
              <a:t>stream cipher eliminates the need of padding</a:t>
            </a:r>
          </a:p>
          <a:p>
            <a:r>
              <a:rPr lang="en-US" dirty="0" smtClean="0"/>
              <a:t>Stream ciphers are real time</a:t>
            </a:r>
          </a:p>
          <a:p>
            <a:r>
              <a:rPr lang="en-US" dirty="0" smtClean="0"/>
              <a:t>In character stream ciphers, length of plaintext and ciphertext are same</a:t>
            </a:r>
          </a:p>
          <a:p>
            <a:r>
              <a:rPr lang="en-US" dirty="0" smtClean="0"/>
              <a:t>Plaintext is divided into </a:t>
            </a:r>
            <a:r>
              <a:rPr lang="en-US" i="1" dirty="0" smtClean="0"/>
              <a:t>segments </a:t>
            </a:r>
            <a:r>
              <a:rPr lang="en-US" dirty="0" smtClean="0"/>
              <a:t>of </a:t>
            </a:r>
            <a:r>
              <a:rPr lang="en-US" i="1" dirty="0" smtClean="0"/>
              <a:t>s </a:t>
            </a:r>
            <a:r>
              <a:rPr lang="en-US" dirty="0" smtClean="0"/>
              <a:t>bits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Cipher Feedback Mode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15435"/>
            <a:ext cx="7620000" cy="422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6209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 Feedback Mode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00150"/>
            <a:ext cx="7837714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62000" y="819150"/>
            <a:ext cx="9906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unique</a:t>
            </a:r>
            <a:endParaRPr lang="en-US" dirty="0"/>
          </a:p>
        </p:txBody>
      </p:sp>
      <p:cxnSp>
        <p:nvCxnSpPr>
          <p:cNvPr id="5" name="Straight Arrow Connector 4"/>
          <p:cNvCxnSpPr>
            <a:stCxn id="3" idx="2"/>
          </p:cNvCxnSpPr>
          <p:nvPr/>
        </p:nvCxnSpPr>
        <p:spPr>
          <a:xfrm>
            <a:off x="1257300" y="1142315"/>
            <a:ext cx="495300" cy="3626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Error propagation is controlled</a:t>
            </a:r>
          </a:p>
          <a:p>
            <a:r>
              <a:rPr lang="en-US" dirty="0" smtClean="0"/>
              <a:t>More vulnerable to message stream modification attack</a:t>
            </a:r>
          </a:p>
          <a:p>
            <a:r>
              <a:rPr lang="en-US" dirty="0" smtClean="0"/>
              <a:t>The attacker makes changes to checksums and data to alter the cipher text</a:t>
            </a:r>
          </a:p>
          <a:p>
            <a:r>
              <a:rPr lang="en-US" dirty="0" smtClean="0"/>
              <a:t>Such changes cannot be detected by error correcting codes</a:t>
            </a:r>
          </a:p>
          <a:p>
            <a:r>
              <a:rPr lang="en-US" dirty="0" smtClean="0"/>
              <a:t>OFB is much similar to traditional stream ciphers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5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Counter 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Gained popularity with the introduction of asynchronous transfer mode and IP Security</a:t>
            </a:r>
          </a:p>
          <a:p>
            <a:r>
              <a:rPr lang="en-US" dirty="0" smtClean="0"/>
              <a:t>Counter has a size same as plaintext block</a:t>
            </a:r>
          </a:p>
          <a:p>
            <a:r>
              <a:rPr lang="en-US" dirty="0" smtClean="0"/>
              <a:t>Counter value must change for each block</a:t>
            </a:r>
          </a:p>
          <a:p>
            <a:r>
              <a:rPr lang="en-US" dirty="0" smtClean="0"/>
              <a:t>Some value is initialized then incremented by 1</a:t>
            </a:r>
          </a:p>
          <a:p>
            <a:r>
              <a:rPr lang="en-US" dirty="0" smtClean="0"/>
              <a:t>No chaining</a:t>
            </a:r>
          </a:p>
          <a:p>
            <a:r>
              <a:rPr lang="en-US" dirty="0" smtClean="0"/>
              <a:t>Counter value is encrypted and then </a:t>
            </a:r>
            <a:r>
              <a:rPr lang="en-US" dirty="0" err="1" smtClean="0"/>
              <a:t>XORed</a:t>
            </a:r>
            <a:r>
              <a:rPr lang="en-US" dirty="0" smtClean="0"/>
              <a:t> with plaintext block</a:t>
            </a:r>
          </a:p>
          <a:p>
            <a:r>
              <a:rPr lang="en-US" dirty="0" smtClean="0"/>
              <a:t>The last plaintext block may be partial with </a:t>
            </a:r>
            <a:r>
              <a:rPr lang="en-US" i="1" dirty="0" smtClean="0"/>
              <a:t>u </a:t>
            </a:r>
            <a:r>
              <a:rPr lang="en-US" dirty="0" smtClean="0"/>
              <a:t>bits, the MSB are used in XOR and remaining </a:t>
            </a:r>
            <a:r>
              <a:rPr lang="en-US" i="1" dirty="0" smtClean="0"/>
              <a:t>b-u</a:t>
            </a:r>
            <a:r>
              <a:rPr lang="en-US" dirty="0" smtClean="0"/>
              <a:t> bits are discarded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877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Counter 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581150"/>
            <a:ext cx="6991350" cy="290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485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259B77012B2848AE0F4DF2B5D4F296" ma:contentTypeVersion="2" ma:contentTypeDescription="Create a new document." ma:contentTypeScope="" ma:versionID="702001f6ffe92fc27853c39d6bb1f461">
  <xsd:schema xmlns:xsd="http://www.w3.org/2001/XMLSchema" xmlns:xs="http://www.w3.org/2001/XMLSchema" xmlns:p="http://schemas.microsoft.com/office/2006/metadata/properties" xmlns:ns2="7c358aa1-f4ff-467d-928d-abaea3b327e8" targetNamespace="http://schemas.microsoft.com/office/2006/metadata/properties" ma:root="true" ma:fieldsID="8428a033b6143380b25f6b4c31122d63" ns2:_="">
    <xsd:import namespace="7c358aa1-f4ff-467d-928d-abaea3b327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358aa1-f4ff-467d-928d-abaea3b327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BE46DF9-2734-49CD-9CD1-F727CB046EB7}"/>
</file>

<file path=customXml/itemProps2.xml><?xml version="1.0" encoding="utf-8"?>
<ds:datastoreItem xmlns:ds="http://schemas.openxmlformats.org/officeDocument/2006/customXml" ds:itemID="{7EEF4676-C348-47EB-B5AD-5700F0134A7F}"/>
</file>

<file path=customXml/itemProps3.xml><?xml version="1.0" encoding="utf-8"?>
<ds:datastoreItem xmlns:ds="http://schemas.openxmlformats.org/officeDocument/2006/customXml" ds:itemID="{FC6D0A9B-E99A-4C6E-9A56-135D6CF00485}"/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422</Words>
  <Application>Microsoft Office PowerPoint</Application>
  <PresentationFormat>On-screen Show (16:9)</PresentationFormat>
  <Paragraphs>62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Block Cipher Modes of Operation</vt:lpstr>
      <vt:lpstr>What’s the problem?</vt:lpstr>
      <vt:lpstr>PowerPoint Presentation</vt:lpstr>
      <vt:lpstr>Block Cipher Modes of Operation</vt:lpstr>
      <vt:lpstr>Electronic Code Book</vt:lpstr>
      <vt:lpstr>PowerPoint Presentation</vt:lpstr>
      <vt:lpstr>Parameters to consider for further studies</vt:lpstr>
      <vt:lpstr>Cipher Block Chaining</vt:lpstr>
      <vt:lpstr>PowerPoint Presentation</vt:lpstr>
      <vt:lpstr>Cipher Feedback Mode</vt:lpstr>
      <vt:lpstr>Cipher Feedback Mode</vt:lpstr>
      <vt:lpstr>Output Feedback Mode</vt:lpstr>
      <vt:lpstr>PowerPoint Presentation</vt:lpstr>
      <vt:lpstr>Counter Mode</vt:lpstr>
      <vt:lpstr>Counter Mode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Siva Prasad Pinnamaneni</dc:creator>
  <cp:lastModifiedBy>Siva</cp:lastModifiedBy>
  <cp:revision>21</cp:revision>
  <dcterms:created xsi:type="dcterms:W3CDTF">2019-07-24T04:52:56Z</dcterms:created>
  <dcterms:modified xsi:type="dcterms:W3CDTF">2020-09-26T06:00:18Z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1033-11.1.0.8722</vt:lpwstr>
  </property>
  <property fmtid="{D5CDD505-2E9C-101B-9397-08002B2CF9AE}" pid="3" name="ContentTypeId">
    <vt:lpwstr>0x010100AB259B77012B2848AE0F4DF2B5D4F296</vt:lpwstr>
  </property>
</Properties>
</file>